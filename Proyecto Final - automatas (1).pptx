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Fira Code" panose="020B0809050000020004" pitchFamily="49" charset="0"/>
      <p:regular r:id="rId19"/>
      <p:bold r:id="rId20"/>
    </p:embeddedFont>
    <p:embeddedFont>
      <p:font typeface="Inter"/>
      <p:bold r:id="rId21"/>
      <p: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06628"/>
            <a:ext cx="10972800" cy="917971"/>
          </a:xfrm>
          <a:prstGeom prst="roundRect">
            <a:avLst>
              <a:gd name="adj" fmla="val 124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782175" y="561975"/>
            <a:ext cx="18002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58225" y="5698926"/>
            <a:ext cx="268605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58225" y="5698926"/>
            <a:ext cx="9525" cy="3333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52450"/>
            <a:ext cx="3810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525" y="619125"/>
            <a:ext cx="1628775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+mj-lt"/>
              </a:rPr>
              <a:t>Guatemala,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02383"/>
            <a:ext cx="174246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+mj-lt"/>
              </a:rPr>
              <a:t>PROYECTO FINAL INTEGRADOR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64308"/>
            <a:ext cx="9901237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Simulador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de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Autómatas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Finitos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Deterministas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y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Conversión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a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Expresiones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Regulares</a:t>
            </a:r>
            <a:endParaRPr sz="3300" b="1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680519"/>
            <a:ext cx="79057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Herramienta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de software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en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Java 17 para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modelado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visual,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ejecución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de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cadenas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y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algoritmo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paso a paso de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eliminación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de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estados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5606653"/>
            <a:ext cx="1101264" cy="1269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+mj-lt"/>
              </a:rPr>
              <a:t>EQUIPO DE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5778103"/>
            <a:ext cx="61912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E2E8F0"/>
                </a:solidFill>
                <a:latin typeface="+mj-lt"/>
              </a:rPr>
              <a:t>Lizbeth Alvarez (3190-24-17694) • Daniela Gutiérrez (3190-24-23395)</a:t>
            </a:r>
            <a:r>
              <a:rPr dirty="0">
                <a:latin typeface="+mj-lt"/>
              </a:rPr>
              <a:t>
</a:t>
            </a:r>
            <a:r>
              <a:rPr sz="975" b="0" i="0" u="none" dirty="0">
                <a:solidFill>
                  <a:srgbClr val="E2E8F0"/>
                </a:solidFill>
                <a:latin typeface="+mj-lt"/>
              </a:rPr>
              <a:t> Fátima Monterroso (3190-24-16684) • Mirella Patzan (3190-19-22944) • Fátima Gaitán (3190-24-13220)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9103" y="5698926"/>
            <a:ext cx="625171" cy="1269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 i="0" u="none">
                <a:solidFill>
                  <a:srgbClr val="64748B"/>
                </a:solidFill>
                <a:latin typeface="+mj-lt"/>
              </a:rPr>
              <a:t>CATEDRÁTICO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1666" y="5870376"/>
            <a:ext cx="203260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 dirty="0">
                <a:solidFill>
                  <a:srgbClr val="FFFFFF"/>
                </a:solidFill>
                <a:latin typeface="+mj-lt"/>
              </a:rPr>
              <a:t>Ing. Danilo Andrés </a:t>
            </a:r>
            <a:r>
              <a:rPr sz="1050" b="1" i="0" u="none" dirty="0" err="1">
                <a:solidFill>
                  <a:srgbClr val="FFFFFF"/>
                </a:solidFill>
                <a:latin typeface="+mj-lt"/>
              </a:rPr>
              <a:t>Escolin</a:t>
            </a:r>
            <a:r>
              <a:rPr sz="1050" b="1" i="0" u="none" dirty="0">
                <a:solidFill>
                  <a:srgbClr val="FFFFFF"/>
                </a:solidFill>
                <a:latin typeface="+mj-lt"/>
              </a:rPr>
              <a:t> Rodríguez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3400"/>
            <a:ext cx="31607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+mj-lt"/>
              </a:rPr>
              <a:t>UNIVERSIDAD MARIANO GÁLVEZ DE GUATEMALA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23900"/>
            <a:ext cx="411490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38BDF8"/>
                </a:solidFill>
                <a:latin typeface="+mj-lt"/>
              </a:rPr>
              <a:t>FACULTAD DE INGENIERÍA EN SISTEMAS • AUTÓMATAS Y LENGUAJES FORMALES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5353050" cy="5057775"/>
          </a:xfrm>
          <a:prstGeom prst="roundRect">
            <a:avLst>
              <a:gd name="adj" fmla="val 2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343025"/>
            <a:ext cx="5353050" cy="5057775"/>
          </a:xfrm>
          <a:prstGeom prst="roundRect">
            <a:avLst>
              <a:gd name="adj" fmla="val 2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5743575"/>
            <a:ext cx="48006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5575" y="5743575"/>
            <a:ext cx="4800600" cy="381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19250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619250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1688" y="459581"/>
            <a:ext cx="11698224" cy="15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FUNDAMENTACIÓN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1038"/>
            <a:ext cx="38779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Introducción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y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Alcance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Teórico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2076450"/>
            <a:ext cx="23390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Teoría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Lenguajes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Formales</a:t>
            </a:r>
            <a:endParaRPr sz="15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25" y="2438400"/>
            <a:ext cx="48958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La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equivalencia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entre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Autómatas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Finitos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Deterministas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(AFD) y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Expresiones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Regulares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(Regex) es un pilar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esencial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ciencias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de la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computación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195637"/>
            <a:ext cx="4895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Aplica directamente en análisis léxico de compiladores, motores de búsqueda de patrones y verificación de sistemas.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5857875"/>
            <a:ext cx="5619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Inter"/>
              </a:rPr>
              <a:t>Módulo Teórico: AFD ≡ Regex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2076450"/>
            <a:ext cx="234948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Enfoque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Práctico</a:t>
            </a:r>
            <a:r>
              <a:rPr sz="1500" b="1" i="0" u="none" dirty="0">
                <a:solidFill>
                  <a:srgbClr val="0F172A"/>
                </a:solidFill>
              </a:rPr>
              <a:t>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2438400"/>
            <a:ext cx="4895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El proyecto materializa abstracciones matemáticas en una herramienta interactiva que visibiliza algoritmos internos.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2981325"/>
            <a:ext cx="4895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Permite la creación libre de autómatas, simulación de cadenas en tiempo real y verificación de respuestas.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5857875"/>
            <a:ext cx="55340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Inter"/>
              </a:rPr>
              <a:t>Solución Gráfica e Interactiva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787" y="1252537"/>
            <a:ext cx="4965055" cy="5057775"/>
          </a:xfrm>
          <a:prstGeom prst="roundRect">
            <a:avLst>
              <a:gd name="adj" fmla="val 230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03255" y="2371725"/>
            <a:ext cx="5779144" cy="3000375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4" y="2792306"/>
            <a:ext cx="4355455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3043237"/>
            <a:ext cx="13335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3481387"/>
            <a:ext cx="13335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3919537"/>
            <a:ext cx="13335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4357687"/>
            <a:ext cx="1333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4795837"/>
            <a:ext cx="13335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METAS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30" y="714375"/>
            <a:ext cx="396063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Objetivos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General y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Específicos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338512"/>
            <a:ext cx="148585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FFFFFF"/>
                </a:solidFill>
                <a:latin typeface="+mj-lt"/>
              </a:rPr>
              <a:t>Objetivo</a:t>
            </a:r>
            <a:r>
              <a:rPr sz="1650" b="1" i="0" u="none" dirty="0">
                <a:solidFill>
                  <a:srgbClr val="FFFFFF"/>
                </a:solidFill>
                <a:latin typeface="+mj-lt"/>
              </a:rPr>
              <a:t> General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9512"/>
            <a:ext cx="445070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Desarrollar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una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aplicación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escritorio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Java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que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permita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crear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,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editar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y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simular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autómatas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finitos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deterministas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(AFD),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así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como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convertirlos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expresiones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regulares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mediante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el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algoritmo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eliminación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de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estados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con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una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interfaz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gráfica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interactiva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9480" y="2647950"/>
            <a:ext cx="150323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Objetivos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Específicos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8080" y="301942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Interfaz Visual: Crear, modificar y eliminar estados y transiciones en un lienzo dinámico.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080" y="345757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Motor de Simulación: Visualizar el recorrido de símbolos y verificar la aceptación/rechazo.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080" y="389572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Conversión Animada: Aplicar eliminación de estados mostrando los grafos intermedios.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8080" y="433387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Verificación de Equivalencia: Comparar automáticamente evaluación AFD vs. Regex evaluada.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080" y="477202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Arquitectura Modular: Aplicar principios POO y separación en paquetes para mantenimiento.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33550"/>
            <a:ext cx="6007744" cy="4200525"/>
          </a:xfrm>
          <a:prstGeom prst="roundRect">
            <a:avLst>
              <a:gd name="adj" fmla="val 272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45944" y="2005012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5944" y="2947987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45944" y="3890962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45944" y="4833937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45944" y="2005012"/>
            <a:ext cx="38100" cy="8286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45944" y="2947987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45944" y="3890962"/>
            <a:ext cx="38100" cy="8286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45944" y="4833937"/>
            <a:ext cx="38100" cy="8286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ARQUITECTURA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449975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Diagrama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UML General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38" y="5629275"/>
            <a:ext cx="71048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1. Diagrama de paquetes y relaciones principales del simulador.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6444" y="2157412"/>
            <a:ext cx="80150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6444" y="2376487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Clases MainFrame, EditorVisualAFD y VentanaConversionRegex para la 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6444" y="3100387"/>
            <a:ext cx="165750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</a:rPr>
              <a:t>Módulo</a:t>
            </a:r>
            <a:r>
              <a:rPr sz="1125" b="1" i="0" u="none" dirty="0">
                <a:solidFill>
                  <a:srgbClr val="0F172A"/>
                </a:solidFill>
              </a:rPr>
              <a:t> Model &amp;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6444" y="3319462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Automata, Estado, Transicion y AutomataController que gestiona las reglas.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6444" y="4042457"/>
            <a:ext cx="197970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</a:rPr>
              <a:t>Módulo</a:t>
            </a:r>
            <a:r>
              <a:rPr sz="1125" b="1" i="0" u="none" dirty="0">
                <a:solidFill>
                  <a:srgbClr val="0F172A"/>
                </a:solidFill>
              </a:rPr>
              <a:t> Conversion &amp;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6444" y="4262437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ConversorRegex, SimuladorAFD y VerificadorEquivalencia para lógica pesada.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6444" y="4986337"/>
            <a:ext cx="147636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IO (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Persistencia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6444" y="5205412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AutomataJson para guardar y cargar archivos .json con posiciones de canvas.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30BAE68-D9FA-C1A6-78D2-0F91B890D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4296"/>
            <a:ext cx="5397910" cy="3493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04925"/>
            <a:ext cx="6068317" cy="5095875"/>
          </a:xfrm>
          <a:prstGeom prst="roundRect">
            <a:avLst>
              <a:gd name="adj" fmla="val 22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06517" y="1304925"/>
            <a:ext cx="4675882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01742" y="2471738"/>
            <a:ext cx="4675882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6517" y="3381375"/>
            <a:ext cx="4675882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8200" y="1752600"/>
            <a:ext cx="5611117" cy="3109912"/>
          </a:xfrm>
          <a:prstGeom prst="roundRect">
            <a:avLst>
              <a:gd name="adj" fmla="val 245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MODELO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500502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Estructuras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Datos 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Implementación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6029325"/>
            <a:ext cx="701389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Figura 2. Declaración de colecciones en la clase Automata.java.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33525"/>
            <a:ext cx="701389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JAVA 17 CODE SNIPPET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905000"/>
            <a:ext cx="5401567" cy="280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Fira Code"/>
              </a:rPr>
              <a:t>public class Automata { private final List estados; private final Set alfabeto; private final List transiciones; private Estado estadoInicial; private final Set estadosAceptacion; public Automata() { estados = new ArrayList&lt;&gt;(); alfabeto = new HashSet&lt;&gt;(); transiciones = new ArrayList&lt;&gt;(); estadosAceptacion = new HashSet&lt;&gt;(); estadoInicial = null; }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660" y="1483890"/>
            <a:ext cx="9121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  <a:latin typeface="+mj-lt"/>
              </a:rPr>
              <a:t>List / </a:t>
            </a:r>
            <a:r>
              <a:rPr sz="1200" b="1" i="0" u="none" dirty="0" err="1">
                <a:solidFill>
                  <a:srgbClr val="2563EB"/>
                </a:solidFill>
                <a:latin typeface="+mj-lt"/>
              </a:rPr>
              <a:t>ArrayList</a:t>
            </a:r>
            <a:endParaRPr sz="1200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87492" y="1724025"/>
            <a:ext cx="44091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Almacena los nodos con sus coordenadas (x, y), nombre y banderas (inicial/aceptación).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7492" y="2524125"/>
            <a:ext cx="8555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  <a:latin typeface="+mj-lt"/>
              </a:rPr>
              <a:t>Set / HashSet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7492" y="2762250"/>
            <a:ext cx="44091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Garantiza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unicidad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el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alfabeto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y la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búsqueda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rápida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O(1) para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estados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finales.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7492" y="3562350"/>
            <a:ext cx="218181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2563EB"/>
                </a:solidFill>
                <a:latin typeface="+mj-lt"/>
              </a:rPr>
              <a:t>Representación</a:t>
            </a:r>
            <a:r>
              <a:rPr sz="1200" b="1" i="0" u="none" dirty="0">
                <a:solidFill>
                  <a:srgbClr val="2563EB"/>
                </a:solidFill>
                <a:latin typeface="+mj-lt"/>
              </a:rPr>
              <a:t> del </a:t>
            </a:r>
            <a:r>
              <a:rPr sz="1200" b="1" i="0" u="none" dirty="0" err="1">
                <a:solidFill>
                  <a:srgbClr val="2563EB"/>
                </a:solidFill>
                <a:latin typeface="+mj-lt"/>
              </a:rPr>
              <a:t>Grafo</a:t>
            </a:r>
            <a:r>
              <a:rPr sz="1200" b="1" i="0" u="none" dirty="0">
                <a:solidFill>
                  <a:srgbClr val="2563EB"/>
                </a:solidFill>
                <a:latin typeface="+mj-lt"/>
              </a:rPr>
              <a:t> G=(Q,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7492" y="3800475"/>
            <a:ext cx="44091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Representado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mediante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JGraphX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vinculando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celdas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visuales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con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instancias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Transición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5641478" cy="262890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55878" y="2266950"/>
            <a:ext cx="5026521" cy="3171825"/>
          </a:xfrm>
          <a:prstGeom prst="roundRect">
            <a:avLst>
              <a:gd name="adj" fmla="val 360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4510087"/>
            <a:ext cx="5089028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5825" y="4510087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ALGORITMO DE CONVERSIÓN (PASO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36436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</a:rPr>
              <a:t>Normalización</a:t>
            </a:r>
            <a:r>
              <a:rPr sz="2400" b="1" i="0" u="none" dirty="0">
                <a:solidFill>
                  <a:srgbClr val="0F172A"/>
                </a:solidFill>
              </a:rPr>
              <a:t> del </a:t>
            </a:r>
            <a:r>
              <a:rPr sz="2400" b="1" i="0" u="none" dirty="0" err="1">
                <a:solidFill>
                  <a:srgbClr val="0F172A"/>
                </a:solidFill>
              </a:rPr>
              <a:t>Autómata</a:t>
            </a:r>
            <a:endParaRPr sz="2400" b="1" i="0" u="none" dirty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825" y="2813399"/>
            <a:ext cx="282910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Incorporación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Estados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Auxiliares</a:t>
            </a:r>
            <a:endParaRPr sz="15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3214687"/>
            <a:ext cx="518427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Para aplicar la eliminación de estados de forma unificada, el sistema crea automáticamente dos estados auxiliares: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7595" y="5095875"/>
            <a:ext cx="57830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3. Autómata normalizado con estados q_start y q_accept.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95712"/>
            <a:ext cx="636128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q_start: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Nuevo estado inicial conectado al inicial original con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ε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33837"/>
            <a:ext cx="518427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q_accept: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Nuevo único estado de aceptación conectado desde los aceptores originales con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ε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624387"/>
            <a:ext cx="593266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Garantiza una única fuente y un único sumidero en el grafo de transición.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1FD277A-04B2-31A5-EBFA-242428952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878" y="2296446"/>
            <a:ext cx="5090628" cy="2357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7002"/>
            <a:ext cx="4951214" cy="1851570"/>
          </a:xfrm>
          <a:prstGeom prst="roundRect">
            <a:avLst>
              <a:gd name="adj" fmla="val 617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7514" y="2918519"/>
            <a:ext cx="5754885" cy="1868685"/>
          </a:xfrm>
          <a:prstGeom prst="roundRect">
            <a:avLst>
              <a:gd name="adj" fmla="val 61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ALGORITMO DE CONVERSIÓN (PASO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443005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Fórmula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Eliminación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Estados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5825" y="3203227"/>
            <a:ext cx="54984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D4ED8"/>
                </a:solidFill>
                <a:latin typeface="Inter"/>
              </a:rPr>
              <a:t>ECUACIÓN TEÓRICA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31827"/>
            <a:ext cx="4494014" cy="318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Fira Code"/>
              </a:rPr>
              <a:t>R'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ik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 = 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ik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 ∪ 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ij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 • (R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jj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)* • 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jk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02273"/>
            <a:ext cx="449401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40AF"/>
                </a:solidFill>
                <a:latin typeface="Inter"/>
              </a:rPr>
              <a:t>Al eliminar el estado intermedio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, el camino entre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i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 y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k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 se actualiza uniendo el camino directo preexistente con la secuencia que pasa por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639" y="3156644"/>
            <a:ext cx="168789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Desglose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Componentes</a:t>
            </a:r>
            <a:endParaRPr sz="12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5639" y="3470969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ik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Transición directa original entre origen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i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y destino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5639" y="3764309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ij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Expresión para ir desde el estado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i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al estado a eliminar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639" y="4057650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(R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jj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)*: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Bucles sobre el estado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(aplicando la Cerradura de Kleene).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5639" y="4350990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jk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Expresión para ir desde el estado a eliminar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hacia el destino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92374"/>
            <a:ext cx="6007744" cy="4351202"/>
          </a:xfrm>
          <a:prstGeom prst="roundRect">
            <a:avLst>
              <a:gd name="adj" fmla="val 299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45944" y="2657475"/>
            <a:ext cx="4736455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5944" y="3581400"/>
            <a:ext cx="4736455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45944" y="4352925"/>
            <a:ext cx="4736455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MANUAL DE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3420"/>
            <a:ext cx="36927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</a:rPr>
              <a:t>Entorno</a:t>
            </a:r>
            <a:r>
              <a:rPr sz="2400" b="1" i="0" u="none" dirty="0">
                <a:solidFill>
                  <a:srgbClr val="0F172A"/>
                </a:solidFill>
              </a:rPr>
              <a:t> del Editor </a:t>
            </a:r>
            <a:r>
              <a:rPr sz="2400" b="1" i="0" u="none" dirty="0" err="1">
                <a:solidFill>
                  <a:srgbClr val="0F172A"/>
                </a:solidFill>
              </a:rPr>
              <a:t>Simulador</a:t>
            </a:r>
            <a:endParaRPr sz="2400" b="1" i="0" u="none" dirty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38" y="5438775"/>
            <a:ext cx="71048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4. Interfaz principal con panel de herramientas, lienzo y simulación.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8819" y="2800350"/>
            <a:ext cx="150522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2563EB"/>
                </a:solidFill>
              </a:rPr>
              <a:t>1. Panel de </a:t>
            </a:r>
            <a:r>
              <a:rPr sz="1125" b="1" i="0" u="none" dirty="0" err="1">
                <a:solidFill>
                  <a:srgbClr val="2563EB"/>
                </a:solidFill>
              </a:rPr>
              <a:t>Herramientas</a:t>
            </a:r>
            <a:endParaRPr sz="1125" b="1" i="0" u="none" dirty="0">
              <a:solidFill>
                <a:srgbClr val="2563E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8819" y="3019425"/>
            <a:ext cx="454595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Botones para agregar/renombrar estados, crear transiciones, importar/exportar 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8819" y="3724275"/>
            <a:ext cx="12070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2563EB"/>
                </a:solidFill>
                <a:latin typeface="+mj-lt"/>
              </a:rPr>
              <a:t>2. </a:t>
            </a:r>
            <a:r>
              <a:rPr sz="1125" b="1" i="0" u="none" dirty="0" err="1">
                <a:solidFill>
                  <a:srgbClr val="2563EB"/>
                </a:solidFill>
                <a:latin typeface="+mj-lt"/>
              </a:rPr>
              <a:t>Lienzo</a:t>
            </a:r>
            <a:r>
              <a:rPr sz="1125" b="1" i="0" u="none" dirty="0">
                <a:solidFill>
                  <a:srgbClr val="2563EB"/>
                </a:solidFill>
                <a:latin typeface="+mj-lt"/>
              </a:rPr>
              <a:t> </a:t>
            </a:r>
            <a:r>
              <a:rPr sz="1125" b="1" i="0" u="none" dirty="0" err="1">
                <a:solidFill>
                  <a:srgbClr val="2563EB"/>
                </a:solidFill>
                <a:latin typeface="+mj-lt"/>
              </a:rPr>
              <a:t>Interactivo</a:t>
            </a:r>
            <a:endParaRPr sz="1125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88819" y="3943350"/>
            <a:ext cx="52031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Espacio visual JGraphX donde se dibujan los nodos y aristas arrastrabiles.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8819" y="4495800"/>
            <a:ext cx="145552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2563EB"/>
                </a:solidFill>
                <a:latin typeface="+mj-lt"/>
              </a:rPr>
              <a:t>3. Control de </a:t>
            </a:r>
            <a:r>
              <a:rPr sz="1125" b="1" i="0" u="none" dirty="0" err="1">
                <a:solidFill>
                  <a:srgbClr val="2563EB"/>
                </a:solidFill>
                <a:latin typeface="+mj-lt"/>
              </a:rPr>
              <a:t>Simulación</a:t>
            </a:r>
            <a:endParaRPr sz="1125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8819" y="4714875"/>
            <a:ext cx="52031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Campo de entrada para cadenas de prueba, botones Simular y Reiniciar.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AE9F5B8-1BA9-66F7-E063-F828E433B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62" y="1491377"/>
            <a:ext cx="5270638" cy="3939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3530649" cy="50577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1343025"/>
            <a:ext cx="3530649" cy="50577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1343025"/>
            <a:ext cx="3530649" cy="50577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1581150"/>
            <a:ext cx="542925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874" y="1581150"/>
            <a:ext cx="57150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1581150"/>
            <a:ext cx="57150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PASO A 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468153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Construcción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Edición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del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Autómata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1619250"/>
            <a:ext cx="485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PASO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885950"/>
            <a:ext cx="11440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Agregar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Estados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7725" y="2181225"/>
            <a:ext cx="31496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Presionar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"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Agregar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Estado" y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hacer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clic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en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el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lienzo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Asigna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nombres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automáticos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(q0, q1, q2).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1619250"/>
            <a:ext cx="514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PASO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1885950"/>
            <a:ext cx="91422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Definir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2181225"/>
            <a:ext cx="31496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Seleccionar nodo y marcar "Estado Inicial" (flecha entrada) o "Estado Aceptación" (doble círculo).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224" y="1619250"/>
            <a:ext cx="514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PASO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1885950"/>
            <a:ext cx="13495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Trazar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Transiciones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90024" y="2181225"/>
            <a:ext cx="31496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Elegir "Crear Transición", presionar estado origen, luego destino e ingresar el símbolo del alfabeto.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19300"/>
            <a:ext cx="5762178" cy="3629025"/>
          </a:xfrm>
          <a:prstGeom prst="roundRect">
            <a:avLst>
              <a:gd name="adj" fmla="val 31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38478" y="2776537"/>
            <a:ext cx="4943921" cy="981075"/>
          </a:xfrm>
          <a:prstGeom prst="roundRect">
            <a:avLst>
              <a:gd name="adj" fmla="val 97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38478" y="3910012"/>
            <a:ext cx="4943921" cy="981075"/>
          </a:xfrm>
          <a:prstGeom prst="roundRect">
            <a:avLst>
              <a:gd name="adj" fmla="val 970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503" y="299561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503" y="4129087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EJECUCIÓN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438421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Simulación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Cadenas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33" y="5343525"/>
            <a:ext cx="679791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5. Resaltado dinámico del recorrido para la cadena "aaa" (ACEPTADA).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8503" y="2976562"/>
            <a:ext cx="1344471" cy="184666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66534"/>
                </a:solidFill>
                <a:latin typeface="+mj-lt"/>
              </a:rPr>
              <a:t>Cadena </a:t>
            </a:r>
            <a:r>
              <a:rPr sz="1200" b="1" i="0" u="none" dirty="0" err="1">
                <a:solidFill>
                  <a:srgbClr val="166534"/>
                </a:solidFill>
                <a:latin typeface="+mj-lt"/>
              </a:rPr>
              <a:t>Aceptada</a:t>
            </a:r>
            <a:endParaRPr sz="1200" b="1" i="0" u="none" dirty="0">
              <a:solidFill>
                <a:srgbClr val="166534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8503" y="3233737"/>
            <a:ext cx="463912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5803D"/>
                </a:solidFill>
                <a:latin typeface="Inter"/>
              </a:rPr>
              <a:t>El recorrido finaliza en un estado perteneciente al conjunto de estados de aceptación al consumir la cadena.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503" y="4110037"/>
            <a:ext cx="1419299" cy="184666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991B1B"/>
                </a:solidFill>
              </a:rPr>
              <a:t>Cadena </a:t>
            </a:r>
            <a:r>
              <a:rPr sz="1200" b="1" i="0" u="none" dirty="0" err="1">
                <a:solidFill>
                  <a:srgbClr val="991B1B"/>
                </a:solidFill>
              </a:rPr>
              <a:t>Rechazada</a:t>
            </a:r>
            <a:endParaRPr sz="1200" b="1" i="0" u="none" dirty="0">
              <a:solidFill>
                <a:srgbClr val="991B1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8503" y="4367212"/>
            <a:ext cx="463912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91C1C"/>
                </a:solidFill>
                <a:latin typeface="Inter"/>
              </a:rPr>
              <a:t>La cadena finaliza en un estado no aceptor o el autómata no posee transición definida para un símbolo.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E34AC23-FAE5-8A3C-A920-D19B6673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40857"/>
            <a:ext cx="5250426" cy="210084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B081B72-0EAC-33A6-CB6D-5303DE9D9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6" y="3242290"/>
            <a:ext cx="5277550" cy="2799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19300"/>
            <a:ext cx="5986908" cy="3629025"/>
          </a:xfrm>
          <a:prstGeom prst="roundRect">
            <a:avLst>
              <a:gd name="adj" fmla="val 31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63208" y="2428875"/>
            <a:ext cx="4719191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63208" y="3409950"/>
            <a:ext cx="4719191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63208" y="4391025"/>
            <a:ext cx="4719191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INTERFAZ DE CONVERSIÓN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614123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+mj-lt"/>
              </a:rPr>
              <a:t>Ventana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Conversión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Inspección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Paso a 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" y="5343525"/>
            <a:ext cx="70788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6. Eliminación progresiva de estados con controles Reproducir/Siguiente.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5133" y="2590800"/>
            <a:ext cx="142507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Controles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Animación</a:t>
            </a:r>
            <a:endParaRPr sz="1125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25133" y="2809875"/>
            <a:ext cx="44905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Botones Anterior, Siguiente, Reproducir y Pausar para ver la evolución del grafo.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5133" y="3571875"/>
            <a:ext cx="142346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Ajustes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de Zoom y 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5133" y="3790950"/>
            <a:ext cx="44905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Controles interactivos de zoom (hasta 150%) para inspeccionar expresiones extensas.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5133" y="4552950"/>
            <a:ext cx="204703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Equivalencia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Integrado</a:t>
            </a:r>
            <a:endParaRPr sz="1125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25133" y="4772025"/>
            <a:ext cx="44905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Inter"/>
              </a:rPr>
              <a:t>Campo al pie para </a:t>
            </a:r>
            <a:r>
              <a:rPr sz="975" b="0" i="0" u="none" dirty="0" err="1">
                <a:solidFill>
                  <a:srgbClr val="64748B"/>
                </a:solidFill>
                <a:latin typeface="Inter"/>
              </a:rPr>
              <a:t>testear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Inter"/>
              </a:rPr>
              <a:t>respuestas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Inter"/>
              </a:rPr>
              <a:t>simultáneas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de la Regex y el AFD original.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4EC28D9-40D7-9037-E352-D16ECAA48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19299"/>
            <a:ext cx="5986907" cy="2878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3600"/>
            <a:ext cx="5762178" cy="3438525"/>
          </a:xfrm>
          <a:prstGeom prst="roundRect">
            <a:avLst>
              <a:gd name="adj" fmla="val 332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38478" y="2724150"/>
            <a:ext cx="4943921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38478" y="3514725"/>
            <a:ext cx="4943921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38478" y="4305300"/>
            <a:ext cx="4943921" cy="676275"/>
          </a:xfrm>
          <a:prstGeom prst="roundRect">
            <a:avLst>
              <a:gd name="adj" fmla="val 1126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38478" y="2724150"/>
            <a:ext cx="38100" cy="676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38478" y="3514725"/>
            <a:ext cx="38100" cy="676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38478" y="4305300"/>
            <a:ext cx="38100" cy="676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PRUEBAS Y VERIFICACIÓN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54074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Verificación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Automatizada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Equivalencia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733" y="5267325"/>
            <a:ext cx="679791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7. Coincidencia validada entre la Regex obtenida y el AFD.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8978" y="2876550"/>
            <a:ext cx="200856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66534"/>
                </a:solidFill>
                <a:latin typeface="+mj-lt"/>
              </a:rPr>
              <a:t>AFD: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Aceptada</a:t>
            </a:r>
            <a:r>
              <a:rPr sz="1125" b="1" i="0" u="none" dirty="0">
                <a:solidFill>
                  <a:srgbClr val="166534"/>
                </a:solidFill>
                <a:latin typeface="+mj-lt"/>
              </a:rPr>
              <a:t> / Regex: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Aceptada</a:t>
            </a:r>
            <a:endParaRPr sz="1125" b="1" i="0" u="none" dirty="0">
              <a:solidFill>
                <a:srgbClr val="166534"/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28978" y="3095625"/>
            <a:ext cx="53630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Resultado: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Coinciden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. Ambos métodos reconocen la cadena evaluada.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8978" y="3667125"/>
            <a:ext cx="215283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66534"/>
                </a:solidFill>
                <a:latin typeface="+mj-lt"/>
              </a:rPr>
              <a:t>AFD: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Rechazada</a:t>
            </a:r>
            <a:r>
              <a:rPr sz="1125" b="1" i="0" u="none" dirty="0">
                <a:solidFill>
                  <a:srgbClr val="166534"/>
                </a:solidFill>
                <a:latin typeface="+mj-lt"/>
              </a:rPr>
              <a:t> / Regex: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Rechazada</a:t>
            </a:r>
            <a:endParaRPr sz="1125" b="1" i="0" u="none" dirty="0">
              <a:solidFill>
                <a:srgbClr val="166534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28978" y="3886200"/>
            <a:ext cx="53630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Resultado: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Coinciden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. Ambas estructuras rechazan correctamente la cadena.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8978" y="4457700"/>
            <a:ext cx="221214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991B1B"/>
                </a:solidFill>
                <a:latin typeface="+mj-lt"/>
              </a:rPr>
              <a:t>Aceptada</a:t>
            </a:r>
            <a:r>
              <a:rPr sz="1125" b="1" i="0" u="none" dirty="0">
                <a:solidFill>
                  <a:srgbClr val="991B1B"/>
                </a:solidFill>
                <a:latin typeface="+mj-lt"/>
              </a:rPr>
              <a:t> / </a:t>
            </a:r>
            <a:r>
              <a:rPr sz="1125" b="1" i="0" u="none" dirty="0" err="1">
                <a:solidFill>
                  <a:srgbClr val="991B1B"/>
                </a:solidFill>
                <a:latin typeface="+mj-lt"/>
              </a:rPr>
              <a:t>Rechazada</a:t>
            </a:r>
            <a:r>
              <a:rPr sz="1125" b="1" i="0" u="none" dirty="0">
                <a:solidFill>
                  <a:srgbClr val="991B1B"/>
                </a:solidFill>
                <a:latin typeface="+mj-lt"/>
              </a:rPr>
              <a:t> (</a:t>
            </a:r>
            <a:r>
              <a:rPr sz="1125" b="1" i="0" u="none" dirty="0" err="1">
                <a:solidFill>
                  <a:srgbClr val="991B1B"/>
                </a:solidFill>
                <a:latin typeface="+mj-lt"/>
              </a:rPr>
              <a:t>Discrepancia</a:t>
            </a:r>
            <a:r>
              <a:rPr sz="1125" b="1" i="0" u="none" dirty="0">
                <a:solidFill>
                  <a:srgbClr val="991B1B"/>
                </a:solidFill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8978" y="4676775"/>
            <a:ext cx="53630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Inter"/>
              </a:rPr>
              <a:t>Resultado: </a:t>
            </a:r>
            <a:r>
              <a:rPr sz="975" b="1" i="0" u="none">
                <a:solidFill>
                  <a:srgbClr val="991B1B"/>
                </a:solidFill>
                <a:latin typeface="Inter"/>
              </a:rPr>
              <a:t>No coinciden</a:t>
            </a:r>
            <a:r>
              <a:rPr sz="975" b="0" i="0" u="none">
                <a:solidFill>
                  <a:srgbClr val="991B1B"/>
                </a:solidFill>
                <a:latin typeface="Inter"/>
              </a:rPr>
              <a:t>. Permite detectar fallos de conversión.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474E186-201B-76F3-AE21-D267CF23E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8" y="1604767"/>
            <a:ext cx="6212999" cy="40684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38350"/>
            <a:ext cx="5512742" cy="3629025"/>
          </a:xfrm>
          <a:prstGeom prst="roundRect">
            <a:avLst>
              <a:gd name="adj" fmla="val 31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89042" y="1304925"/>
            <a:ext cx="5193357" cy="5095875"/>
          </a:xfrm>
          <a:prstGeom prst="roundRect">
            <a:avLst>
              <a:gd name="adj" fmla="val 22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27167" y="5524500"/>
            <a:ext cx="4717107" cy="638175"/>
          </a:xfrm>
          <a:prstGeom prst="roundRect">
            <a:avLst>
              <a:gd name="adj" fmla="val 1194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27167" y="5524500"/>
            <a:ext cx="38100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EXPERIMENTACIÓN Y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556742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+mj-lt"/>
              </a:rPr>
              <a:t>Caso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Práctico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: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Autómata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para Cadenas "ab"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913" y="5362575"/>
            <a:ext cx="648611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8. AFD de 3 estados (q0, q1, q2) para reconocer lenguaje que termina en "ab".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7167" y="1543050"/>
            <a:ext cx="186249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Definición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Formal del AFD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7167" y="1876425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Conjunto Q: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{q0, q1, q2}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7167" y="2114550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 dirty="0" err="1">
                <a:solidFill>
                  <a:srgbClr val="475569"/>
                </a:solidFill>
                <a:latin typeface="Inter"/>
              </a:rPr>
              <a:t>Alfabeto</a:t>
            </a:r>
            <a:r>
              <a:rPr sz="1050" b="1" i="0" u="none" dirty="0">
                <a:solidFill>
                  <a:srgbClr val="475569"/>
                </a:solidFill>
                <a:latin typeface="Inter"/>
              </a:rPr>
              <a:t> Σ:</a:t>
            </a:r>
            <a:r>
              <a:rPr sz="1050" b="0" i="0" u="none" dirty="0">
                <a:solidFill>
                  <a:srgbClr val="475569"/>
                </a:solidFill>
                <a:latin typeface="Inter"/>
              </a:rPr>
              <a:t> {a, b}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7167" y="2352675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Estado Inicial: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q0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7167" y="2590800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Estados de Aceptación: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{q2}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7667" y="5676900"/>
            <a:ext cx="446945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Regex resultante obtenida por la app:</a:t>
            </a:r>
            <a:r>
              <a:t>
</a:t>
            </a:r>
            <a:r>
              <a:rPr sz="1050" b="1" i="0" u="none">
                <a:solidFill>
                  <a:srgbClr val="1D4ED8"/>
                </a:solidFill>
                <a:latin typeface="Inter"/>
              </a:rPr>
              <a:t>b*aa*b((a | bb*a)a*b)*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94B6595-E0BC-3B6B-BC9B-1D3C0EDB3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92" y="2038350"/>
            <a:ext cx="6152555" cy="35630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190625"/>
          <a:ext cx="10972798" cy="2933700"/>
        </p:xfrm>
        <a:graphic>
          <a:graphicData uri="http://schemas.openxmlformats.org/drawingml/2006/table">
            <a:tbl>
              <a:tblPr/>
              <a:tblGrid>
                <a:gridCol w="303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2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Cadena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Probadad</a:t>
                      </a:r>
                      <a:endParaRPr sz="1050" b="1" i="0" u="none" dirty="0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Resultado AFD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Resultado Regex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Comparación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bab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baab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abb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aba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bbb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Cadena vacía (ε)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 err="1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  <a:endParaRPr sz="1050" b="1" i="0" u="none" dirty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410054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F172A"/>
                </a:solidFill>
                <a:latin typeface="+mj-lt"/>
              </a:rPr>
              <a:t>Resultados</a:t>
            </a:r>
            <a:r>
              <a:rPr sz="2100" b="1" i="0" u="none" dirty="0">
                <a:solidFill>
                  <a:srgbClr val="0F172A"/>
                </a:solidFill>
                <a:latin typeface="+mj-lt"/>
              </a:rPr>
              <a:t> de las Cadenas </a:t>
            </a:r>
            <a:r>
              <a:rPr sz="2100" b="1" i="0" u="none" dirty="0" err="1">
                <a:solidFill>
                  <a:srgbClr val="0F172A"/>
                </a:solidFill>
                <a:latin typeface="+mj-lt"/>
              </a:rPr>
              <a:t>Evaluadas</a:t>
            </a:r>
            <a:endParaRPr sz="2100" b="1" i="0" u="none" dirty="0">
              <a:solidFill>
                <a:srgbClr val="0F172A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89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52775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289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289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438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00450" y="3362325"/>
            <a:ext cx="609600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91275" y="3438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82100" y="3438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ANEXOS TÉCNICOS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35984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+mj-lt"/>
              </a:rPr>
              <a:t>Diagramas UML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por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5825" y="3476625"/>
            <a:ext cx="561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Inter"/>
              </a:rPr>
              <a:t>ANEXO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14750"/>
            <a:ext cx="12968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</a:rPr>
              <a:t>Modelo y </a:t>
            </a:r>
            <a:r>
              <a:rPr sz="1200" b="1" i="0" u="none" dirty="0" err="1">
                <a:solidFill>
                  <a:srgbClr val="0F172A"/>
                </a:solidFill>
              </a:rPr>
              <a:t>Simulador</a:t>
            </a:r>
            <a:endParaRPr sz="1200" b="1" i="0" u="none" dirty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39719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AutomataController, SimuladorAFD y PasoSimulacion.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400425"/>
            <a:ext cx="552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Inter"/>
              </a:rPr>
              <a:t>ANEXO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3638550"/>
            <a:ext cx="12369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Conversión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a Regex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3895725"/>
            <a:ext cx="2295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ConversorRegex, NormalizadorAutomata y ExpresionRegular.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3476625"/>
            <a:ext cx="561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Inter"/>
              </a:rPr>
              <a:t>ANEXO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714750"/>
            <a:ext cx="9717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Interfaz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Gráfica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719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MainFrame, EditorVisualAFD y AnimadorSimulacion.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3476625"/>
            <a:ext cx="561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2563EB"/>
                </a:solidFill>
                <a:latin typeface="Inter"/>
              </a:rPr>
              <a:t>ANEXO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714750"/>
            <a:ext cx="11205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Persistencia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9719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AutomataJson y RestauradorModeloAFD.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3505200" cy="50577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343025"/>
            <a:ext cx="3505200" cy="50577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343025"/>
            <a:ext cx="3505200" cy="50577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1925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61925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619250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SÍNTESIS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67032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Conclusiones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2000250"/>
            <a:ext cx="15033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Comprensión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Teórica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25" y="229552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 proyecto permitió aplicar de forma tangible los principios abstractos de la teoría de lenguajes y autómatas.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000250"/>
            <a:ext cx="143539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</a:rPr>
              <a:t>Verificación</a:t>
            </a:r>
            <a:r>
              <a:rPr sz="1350" b="1" i="0" u="none" dirty="0">
                <a:solidFill>
                  <a:srgbClr val="0F172A"/>
                </a:solidFill>
              </a:rPr>
              <a:t> </a:t>
            </a:r>
            <a:r>
              <a:rPr sz="1350" b="1" i="0" u="none" dirty="0" err="1">
                <a:solidFill>
                  <a:srgbClr val="0F172A"/>
                </a:solidFill>
              </a:rPr>
              <a:t>Efectiva</a:t>
            </a:r>
            <a:endParaRPr sz="1350" b="1" i="0" u="none" dirty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9625" y="229552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 validador integrado demostró una respuesta 100% equivalente en las baterías de pruebas ejecutadas.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2000250"/>
            <a:ext cx="23823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</a:rPr>
              <a:t>Arquitectura</a:t>
            </a:r>
            <a:r>
              <a:rPr sz="1350" b="1" i="0" u="none" dirty="0">
                <a:solidFill>
                  <a:srgbClr val="0F172A"/>
                </a:solidFill>
              </a:rPr>
              <a:t> </a:t>
            </a:r>
            <a:r>
              <a:rPr sz="1350" b="1" i="0" u="none" dirty="0" err="1">
                <a:solidFill>
                  <a:srgbClr val="0F172A"/>
                </a:solidFill>
              </a:rPr>
              <a:t>Orientada</a:t>
            </a:r>
            <a:r>
              <a:rPr sz="1350" b="1" i="0" u="none" dirty="0">
                <a:solidFill>
                  <a:srgbClr val="0F172A"/>
                </a:solidFill>
              </a:rPr>
              <a:t> a </a:t>
            </a:r>
            <a:r>
              <a:rPr sz="1350" b="1" i="0" u="none" dirty="0" err="1">
                <a:solidFill>
                  <a:srgbClr val="0F172A"/>
                </a:solidFill>
              </a:rPr>
              <a:t>Objetos</a:t>
            </a:r>
            <a:endParaRPr sz="1350" b="1" i="0" u="none" dirty="0">
              <a:solidFill>
                <a:srgbClr val="0F17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3425" y="229552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Organización modular limpia en paquetes Java que facilita la mantenibilidad y ampliación futura.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05175" y="3924300"/>
            <a:ext cx="558165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41957" y="2428875"/>
            <a:ext cx="3308085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FFFFFF"/>
                </a:solidFill>
              </a:rPr>
              <a:t>¡</a:t>
            </a:r>
            <a:r>
              <a:rPr sz="3600" b="1" i="0" u="none" dirty="0" err="1">
                <a:solidFill>
                  <a:srgbClr val="FFFFFF"/>
                </a:solidFill>
              </a:rPr>
              <a:t>Muchas</a:t>
            </a:r>
            <a:r>
              <a:rPr sz="3600" b="1" i="0" u="none" dirty="0">
                <a:solidFill>
                  <a:srgbClr val="FFFFFF"/>
                </a:solidFill>
              </a:rPr>
              <a:t> 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6468" y="3162300"/>
            <a:ext cx="7739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Espacio para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preguntas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comentarios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sobre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la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demostración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del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4086225"/>
            <a:ext cx="6191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38BDF8"/>
                </a:solidFill>
                <a:latin typeface="Inter"/>
              </a:rPr>
              <a:t>Proyecto Final de </a:t>
            </a:r>
            <a:r>
              <a:rPr sz="1125" b="0" i="0" u="none" dirty="0" err="1">
                <a:solidFill>
                  <a:srgbClr val="38BDF8"/>
                </a:solidFill>
                <a:latin typeface="Inter"/>
              </a:rPr>
              <a:t>Autómatas</a:t>
            </a:r>
            <a:r>
              <a:rPr sz="1125" b="0" i="0" u="none" dirty="0">
                <a:solidFill>
                  <a:srgbClr val="38BDF8"/>
                </a:solidFill>
                <a:latin typeface="Inter"/>
              </a:rPr>
              <a:t> • Universidad Mariano Gálvez de Guatemala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1391</Words>
  <Application>Microsoft Office PowerPoint</Application>
  <PresentationFormat>Panorámica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Fira Code</vt:lpstr>
      <vt:lpstr>Arial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Mirella Patzan</dc:creator>
  <cp:keywords/>
  <dc:description>generated using python-pptx</dc:description>
  <cp:lastModifiedBy>Mirella Patzan</cp:lastModifiedBy>
  <cp:revision>6</cp:revision>
  <dcterms:created xsi:type="dcterms:W3CDTF">2013-01-27T09:14:16Z</dcterms:created>
  <dcterms:modified xsi:type="dcterms:W3CDTF">2026-10-31T00:57:39Z</dcterms:modified>
  <cp:category/>
</cp:coreProperties>
</file>